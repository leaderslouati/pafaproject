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5ce0addaa2441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9" r:id="rId1"/>
  </p:sldMasterIdLst>
  <p:sldIdLst>
    <p:sldId xmlns:r="http://schemas.openxmlformats.org/officeDocument/2006/relationships" id="260" r:id="rId6"/>
    <p:sldId xmlns:r="http://schemas.openxmlformats.org/officeDocument/2006/relationships" id="278" r:id="rId14"/>
    <p:sldId xmlns:r="http://schemas.openxmlformats.org/officeDocument/2006/relationships" id="280" r:id="rId16"/>
    <p:sldId xmlns:r="http://schemas.openxmlformats.org/officeDocument/2006/relationships" id="282" r:id="rId18"/>
  </p:sldIdLst>
  <p:sldSz cx="12191695" cy="6858000"/>
  <p:notesSz cx="7772400" cy="100584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slideMasters/theme/theme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14" /><Relationship Type="http://schemas.openxmlformats.org/officeDocument/2006/relationships/slide" Target="/ppt/slides/slide3.xml" Id="rId16" /><Relationship Type="http://schemas.openxmlformats.org/officeDocument/2006/relationships/slide" Target="/ppt/slides/slide4.xml" Id="rId1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3" /></Relationships>
</file>

<file path=ppt/slideLayouts/slideLayout1.xml><?xml version="1.0" encoding="utf-8"?>
<p:sldLayout xmlns:p="http://schemas.openxmlformats.org/presentationml/2006/main">
  <p:cSld>
    <p:spTree>
      <p:nvGrpSpPr>
        <p:cNvPr id="258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theme" Target="/ppt/slideMasters/theme/theme1.xml" Id="rId4" /></Relationships>
</file>

<file path=ppt/slideMasters/slideMaster1.xml><?xml version="1.0" encoding="utf-8"?>
<p:sldMaster xmlns:p="http://schemas.openxmlformats.org/presentationml/2006/main">
  <p:cSld>
    <p:spTree>
      <p:nvGrpSpPr>
        <p:cNvPr id="257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0" r:id="rId2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Reporting Services 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eporting Services Theme Elements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7" /><Relationship Type="http://schemas.openxmlformats.org/officeDocument/2006/relationships/image" Target="/ppt/media/image.png" Id="rId8" /><Relationship Type="http://schemas.openxmlformats.org/officeDocument/2006/relationships/image" Target="/ppt/media/image2.png" Id="rId9" /><Relationship Type="http://schemas.openxmlformats.org/officeDocument/2006/relationships/image" Target="/ppt/media/image3.png" Id="rId10" /><Relationship Type="http://schemas.openxmlformats.org/officeDocument/2006/relationships/image" Target="/ppt/media/image4.png" Id="rId11" /><Relationship Type="http://schemas.openxmlformats.org/officeDocument/2006/relationships/image" Target="/ppt/media/image5.png" Id="rId12" /><Relationship Type="http://schemas.openxmlformats.org/officeDocument/2006/relationships/image" Target="/ppt/media/image6.png" Id="rId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9" /></Relationships>
</file>

<file path=ppt/slides/slide1.xml><?xml version="1.0" encoding="utf-8"?>
<p:sld xmlns:p="http://schemas.openxmlformats.org/presentationml/2006/main">
  <p:cSld>
    <p:spTree>
      <p:nvGrpSpPr>
        <p:cNvPr id="259" name=""/>
        <p:cNvGrpSpPr/>
        <p:nvPr/>
      </p:nvGrpSpPr>
      <p:grpSpPr>
        <a:xfrm xmlns:a="http://schemas.openxmlformats.org/drawingml/2006/main"/>
      </p:grpSpPr>
      <p:sp>
        <p:nvSpPr>
          <p:cNvPr id="261" name=""/>
          <p:cNvSpPr/>
          <p:nvPr/>
        </p:nvSpPr>
        <p:spPr>
          <a:xfrm xmlns:a="http://schemas.openxmlformats.org/drawingml/2006/main">
            <a:off x="852350" y="114300"/>
            <a:ext cx="9815214" cy="36576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ctr" rtl="0"/>
            <a:r>
              <a:rPr lang="fr-FR" sz="1800" b="1" i="0" u="none" strike="noStrike" dirty="0">
                <a:solidFill>
                  <a:srgbClr val="A52A2A"/>
                </a:solidFill>
                <a:latin typeface="Arial"/>
                <a:cs typeface="Arial"/>
              </a:rPr>
              <a:t>2A.1 ESTIMATED &amp; CHECK READS- PRODUCT CLASSES 1&amp;2 </a:t>
            </a:r>
          </a:p>
        </p:txBody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8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74142" y="991758"/>
            <a:ext cx="3921036" cy="2054971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</p:pic>
      <p:sp>
        <p:nvSpPr>
          <p:cNvPr id="263" name=""/>
          <p:cNvSpPr/>
          <p:nvPr/>
        </p:nvSpPr>
        <p:spPr>
          <a:xfrm xmlns:a="http://schemas.openxmlformats.org/drawingml/2006/main">
            <a:off x="434339" y="610761"/>
            <a:ext cx="7843810" cy="51206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l" rtl="0"/>
            <a:r>
              <a:rPr lang="fr-FR" sz="900" b="1" i="0" u="none" strike="noStrike" dirty="0">
                <a:solidFill>
                  <a:srgbClr val="000000"/>
                </a:solidFill>
                <a:latin typeface="Arial"/>
                <a:cs typeface="Arial"/>
              </a:rPr>
              <a:t>Report measures the average percentage across all Shippers portfolio in each market, where estimated reads were provided. Count of each Shippers portfolio where check reads were not provided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9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74142" y="3262086"/>
            <a:ext cx="3913416" cy="1848391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</p:pic>
      <p:sp>
        <p:nvSpPr>
          <p:cNvPr id="265" name=""/>
          <p:cNvSpPr/>
          <p:nvPr/>
        </p:nvSpPr>
        <p:spPr>
          <a:xfrm xmlns:a="http://schemas.openxmlformats.org/drawingml/2006/main">
            <a:off x="114300" y="4201235"/>
            <a:ext cx="7432330" cy="80256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l" rtl="0"/>
            <a:r>
              <a:rPr lang="fr-FR" sz="9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Observations:
-The number of uncompleted check reads in PC2 has shown a slight decrease from the previous month.
-The percentage of estimated reads in both PC1 has shown a slight increase in February compared to the previous months, whilst PC2 has shown a decrease. Both will continue to be monitored..</a:t>
            </a:r>
          </a:p>
        </p:txBody>
      </p:sp>
      <p:sp>
        <p:nvSpPr>
          <p:cNvPr id="266" name=""/>
          <p:cNvSpPr/>
          <p:nvPr/>
        </p:nvSpPr>
        <p:spPr>
          <a:xfrm xmlns:a="http://schemas.openxmlformats.org/drawingml/2006/main">
            <a:off x="477011" y="2069596"/>
            <a:ext cx="1897380" cy="606301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Industry movement</a:t>
            </a:r>
          </a:p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- </a:t>
            </a:r>
            <a:r>
              <a:rPr lang="fr-FR" sz="10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Monthly change</a:t>
            </a:r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 </a:t>
            </a:r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↓ 1,12%</a:t>
            </a:r>
          </a:p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- </a:t>
            </a:r>
            <a:r>
              <a:rPr lang="fr-FR" sz="10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Annual change </a:t>
            </a:r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↓ 0,00%</a:t>
            </a:r>
          </a:p>
        </p:txBody>
      </p:sp>
      <p:sp>
        <p:nvSpPr>
          <p:cNvPr id="267" name=""/>
          <p:cNvSpPr/>
          <p:nvPr/>
        </p:nvSpPr>
        <p:spPr>
          <a:xfrm xmlns:a="http://schemas.openxmlformats.org/drawingml/2006/main">
            <a:off x="393192" y="2717297"/>
            <a:ext cx="1661159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Monthly changes</a:t>
            </a:r>
          </a:p>
        </p:txBody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0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4340" y="3052576"/>
            <a:ext cx="1586995" cy="86867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</p:pic>
      <p:sp>
        <p:nvSpPr>
          <p:cNvPr id="269" name=""/>
          <p:cNvSpPr/>
          <p:nvPr/>
        </p:nvSpPr>
        <p:spPr>
          <a:xfrm xmlns:a="http://schemas.openxmlformats.org/drawingml/2006/main">
            <a:off x="4332478" y="2033276"/>
            <a:ext cx="2286000" cy="64262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Industry movement:</a:t>
            </a:r>
          </a:p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- </a:t>
            </a:r>
            <a:r>
              <a:rPr lang="fr-FR" sz="10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fr-FR" sz="10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Monthly change</a:t>
            </a:r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 </a:t>
            </a:r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↑ 1,03%</a:t>
            </a:r>
          </a:p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-  </a:t>
            </a:r>
            <a:r>
              <a:rPr lang="fr-FR" sz="1000" b="1" i="0" u="none" strike="noStrike" dirty="0">
                <a:solidFill>
                  <a:srgbClr val="000000"/>
                </a:solidFill>
                <a:latin typeface="Segoe UI"/>
                <a:cs typeface="Segoe UI"/>
              </a:rPr>
              <a:t>Annual change</a:t>
            </a:r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 </a:t>
            </a:r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↓ 0,00%</a:t>
            </a:r>
          </a:p>
        </p:txBody>
      </p:sp>
      <p:sp>
        <p:nvSpPr>
          <p:cNvPr id="270" name=""/>
          <p:cNvSpPr/>
          <p:nvPr/>
        </p:nvSpPr>
        <p:spPr>
          <a:xfrm xmlns:a="http://schemas.openxmlformats.org/drawingml/2006/main">
            <a:off x="4248659" y="2680977"/>
            <a:ext cx="1661159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l" rtl="0"/>
            <a:r>
              <a:rPr lang="fr-FR" sz="1000" b="1" i="0" u="none" strike="noStrike" dirty="0">
                <a:solidFill>
                  <a:srgbClr val="548235"/>
                </a:solidFill>
                <a:latin typeface="Segoe UI"/>
                <a:cs typeface="Segoe UI"/>
              </a:rPr>
              <a:t>Monthly changes</a:t>
            </a:r>
          </a:p>
        </p:txBody>
      </p:sp>
      <p:pic>
        <p:nvPicPr>
          <p:cNvPr id="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1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95321" y="3016256"/>
            <a:ext cx="1400807" cy="86867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</p:pic>
      <p:sp>
        <p:nvSpPr>
          <p:cNvPr id="272" name=""/>
          <p:cNvSpPr/>
          <p:nvPr/>
        </p:nvSpPr>
        <p:spPr>
          <a:xfrm xmlns:a="http://schemas.openxmlformats.org/drawingml/2006/main">
            <a:off x="598932" y="1536192"/>
            <a:ext cx="1569719" cy="35560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ctr" rtl="0"/>
            <a:r>
              <a:rPr lang="fr-FR" sz="1800" b="1" i="0" u="none" strike="noStrike" dirty="0">
                <a:solidFill>
                  <a:srgbClr val="FF0000"/>
                </a:solidFill>
                <a:latin typeface="Segoe UI"/>
                <a:cs typeface="Segoe UI"/>
              </a:rPr>
              <a:t>PC1</a:t>
            </a:r>
          </a:p>
        </p:txBody>
      </p:sp>
      <p:sp>
        <p:nvSpPr>
          <p:cNvPr id="273" name=""/>
          <p:cNvSpPr/>
          <p:nvPr/>
        </p:nvSpPr>
        <p:spPr>
          <a:xfrm xmlns:a="http://schemas.openxmlformats.org/drawingml/2006/main">
            <a:off x="4340099" y="1536192"/>
            <a:ext cx="1569719" cy="355604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ctr" rtl="0"/>
            <a:r>
              <a:rPr lang="fr-FR" sz="1800" b="1" i="0" u="none" strike="noStrike" dirty="0">
                <a:solidFill>
                  <a:srgbClr val="FF0000"/>
                </a:solidFill>
                <a:latin typeface="Segoe UI"/>
                <a:cs typeface="Segoe UI"/>
              </a:rPr>
              <a:t>PC2</a:t>
            </a:r>
          </a:p>
        </p:txBody>
      </p:sp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2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080771" y="3052576"/>
            <a:ext cx="1704341" cy="86867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</p:pic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3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608829" y="3039116"/>
            <a:ext cx="1358680" cy="579118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</p:pic>
      <p:sp>
        <p:nvSpPr>
          <p:cNvPr id="276" name=""/>
          <p:cNvSpPr/>
          <p:nvPr/>
        </p:nvSpPr>
        <p:spPr>
          <a:xfrm xmlns:a="http://schemas.openxmlformats.org/drawingml/2006/main">
            <a:off x="1955293" y="5343149"/>
            <a:ext cx="7226010" cy="48818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lIns="25400" tIns="25400" rIns="25400" bIns="25400" anchor="t" anchorCtr="0"/>
          <a:lstStyle xmlns:a="http://schemas.openxmlformats.org/drawingml/2006/main"/>
          <a:p xmlns:a="http://schemas.openxmlformats.org/drawingml/2006/main">
            <a:pPr marL="0" marR="0" indent="0" algn="l" rtl="0"/>
            <a:r>
              <a:rPr lang="fr-FR" sz="1800" b="1" i="0" u="none" strike="noStrike" dirty="0">
                <a:solidFill>
                  <a:srgbClr val="A52A2A"/>
                </a:solidFill>
                <a:latin typeface="Segoe UI"/>
                <a:cs typeface="Segoe UI"/>
              </a:rPr>
              <a:t>2A.1 ESTIMATED &amp; CHECK READS - PRODUCT CLASSES 1 &amp; 2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277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279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28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>
</file>